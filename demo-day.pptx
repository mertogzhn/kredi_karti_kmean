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63" r:id="rId5"/>
    <p:sldId id="273" r:id="rId6"/>
    <p:sldId id="274" r:id="rId7"/>
    <p:sldId id="272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7/4/2022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701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7/4/2022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785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7/4/2022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334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7/4/2022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493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7/4/2022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459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7/4/2022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578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7/4/2022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519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9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674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7/4/2022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939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7/4/2022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33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79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AF4F2BA-3C03-4E2C-8ABC-0949B61B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ğdan oluşan soyut arka plan">
            <a:extLst>
              <a:ext uri="{FF2B5EF4-FFF2-40B4-BE49-F238E27FC236}">
                <a16:creationId xmlns:a16="http://schemas.microsoft.com/office/drawing/2014/main" id="{A1771B43-5FA7-7149-633E-75F326FF2A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15730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4B986F88-1433-4AF7-AF71-41A89DC93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46064">
                <a:srgbClr val="000000">
                  <a:alpha val="30000"/>
                </a:srgbClr>
              </a:gs>
              <a:gs pos="68000">
                <a:srgbClr val="000000">
                  <a:alpha val="20000"/>
                </a:srgbClr>
              </a:gs>
              <a:gs pos="0">
                <a:schemeClr val="tx1">
                  <a:alpha val="0"/>
                </a:schemeClr>
              </a:gs>
              <a:gs pos="26000">
                <a:schemeClr val="tx1">
                  <a:alpha val="2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8F833C2A-D637-C38F-7B61-C8FA0A267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FFEB92CB-6A2C-FD37-3BD9-E82A1ADE52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86F83E47-CBFD-D2EC-113D-B4E070B88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1764791"/>
          </a:xfrm>
        </p:spPr>
        <p:txBody>
          <a:bodyPr>
            <a:normAutofit/>
          </a:bodyPr>
          <a:lstStyle/>
          <a:p>
            <a:pPr algn="ctr"/>
            <a:r>
              <a:rPr lang="tr-TR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tr-TR" sz="4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Means</a:t>
            </a:r>
            <a:r>
              <a:rPr lang="tr-TR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Algoritması ile Kredi Kartı Müşterilerinin Sınıflandırılması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3439B72-0839-20E1-20AD-79D69EE7F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7722" y="4698219"/>
            <a:ext cx="3208893" cy="448052"/>
          </a:xfrm>
        </p:spPr>
        <p:txBody>
          <a:bodyPr>
            <a:normAutofit fontScale="92500"/>
          </a:bodyPr>
          <a:lstStyle/>
          <a:p>
            <a:pPr algn="ctr"/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Mert Oğuzhanasiltürk 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07787ED-5EDC-4C54-AD87-55B60D0FE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44FFD5D-B985-4624-BBCD-50AD2E168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07" y="6400798"/>
            <a:ext cx="12188952" cy="457201"/>
          </a:xfrm>
          <a:prstGeom prst="rect">
            <a:avLst/>
          </a:prstGeom>
          <a:gradFill>
            <a:gsLst>
              <a:gs pos="61000">
                <a:srgbClr val="000000">
                  <a:alpha val="10000"/>
                </a:srgbClr>
              </a:gs>
              <a:gs pos="7000">
                <a:schemeClr val="tx1">
                  <a:alpha val="0"/>
                </a:schemeClr>
              </a:gs>
              <a:gs pos="10000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3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8B723A5-89BB-D2E7-8199-6772F5B05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Clustering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3161515-6597-E610-20D1-88BE66B63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117345"/>
            <a:ext cx="5458968" cy="3760891"/>
          </a:xfrm>
        </p:spPr>
        <p:txBody>
          <a:bodyPr>
            <a:normAutofit/>
          </a:bodyPr>
          <a:lstStyle/>
          <a:p>
            <a:r>
              <a:rPr lang="tr-T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K-</a:t>
            </a:r>
            <a:r>
              <a:rPr lang="tr-TR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means</a:t>
            </a:r>
            <a:r>
              <a:rPr lang="tr-T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kümeleme (K-</a:t>
            </a:r>
            <a:r>
              <a:rPr lang="tr-TR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means</a:t>
            </a:r>
            <a:r>
              <a:rPr lang="tr-T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tr-TR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clustering</a:t>
            </a:r>
            <a:r>
              <a:rPr lang="tr-T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yöntemi N adet veri nesnesinden oluşan bir veri kümesini giriş parametresi olarak verilen K adet kümeye bölümlemektir. Amaç, gerçekleştirilen bölümleme işlemi sonunda elde edilen kümelerin, küme içi benzerliklerinin maksimum ve kümeler arası benzerliklerinin ise minimum olmasını sağlamaktır.</a:t>
            </a:r>
          </a:p>
          <a:p>
            <a:r>
              <a:rPr lang="tr-TR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K” algoritmaya başlamadan önce ihtiyaç duyulan sabit küme sayısını ifade etmektedir. Tekrarlı bölümleyici yapısı ile K-</a:t>
            </a:r>
            <a:r>
              <a:rPr lang="tr-TR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means</a:t>
            </a:r>
            <a:r>
              <a:rPr lang="tr-TR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algoritması, her verinin ait olduğu kümeye olan uzaklıkları toplamını küçültmektedir.[*]</a:t>
            </a:r>
            <a:endParaRPr lang="tr-TR" sz="1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6C7CE8C-08E7-39E3-460E-87EC23C1982E}"/>
              </a:ext>
            </a:extLst>
          </p:cNvPr>
          <p:cNvSpPr txBox="1"/>
          <p:nvPr/>
        </p:nvSpPr>
        <p:spPr>
          <a:xfrm>
            <a:off x="975360" y="6451185"/>
            <a:ext cx="10119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[*]https://tr.wikipedia.org/wiki/K-means_k%C3%BCmeleme</a:t>
            </a:r>
          </a:p>
        </p:txBody>
      </p:sp>
      <p:pic>
        <p:nvPicPr>
          <p:cNvPr id="1026" name="Picture 2" descr="K-Means Clustering Use-Cases in Security Domain | by Aashish Pal | Medium">
            <a:extLst>
              <a:ext uri="{FF2B5EF4-FFF2-40B4-BE49-F238E27FC236}">
                <a16:creationId xmlns:a16="http://schemas.microsoft.com/office/drawing/2014/main" id="{5EDF8A28-A309-F437-F799-42BBBCA594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478" y="2489074"/>
            <a:ext cx="5343525" cy="269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178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2CD490F-8B0B-72F2-B1B3-EA93B73A0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ve Veri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1073B2-C40B-0E71-7C74-F591E67EC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760891"/>
          </a:xfrm>
        </p:spPr>
        <p:txBody>
          <a:bodyPr/>
          <a:lstStyle/>
          <a:p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Bankalar  pazarlama stratejisini tanımlamak için bir müşteri segmentasyonu geliştirmeye </a:t>
            </a:r>
            <a:r>
              <a:rPr lang="tr-T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ihitayaç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duyarlar. Bu örnek Veri Kümesi, son 6 ayda yaklaşık 9000 aktif kredi kartı sahibinin kullanım davranışını özetlemektedir. Veri seti 18 farklı değişkeni barındırmaktadır</a:t>
            </a:r>
          </a:p>
          <a:p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AE58FAAF-AC86-A680-7A62-75DBA0F91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3336311"/>
            <a:ext cx="10640910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1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E550F920-BC0D-9EFC-D830-85FB07C2A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8"/>
            <a:ext cx="3401961" cy="34947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solidFill>
                  <a:schemeClr val="tx1">
                    <a:lumMod val="85000"/>
                    <a:lumOff val="15000"/>
                  </a:schemeClr>
                </a:solidFill>
              </a:rPr>
              <a:t>Verimizi Keşfedelim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21F0800D-86E1-1D21-3198-842A77648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575" y="182880"/>
            <a:ext cx="6515013" cy="592866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294754"/>
            <a:ext cx="32004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D4480B4-953D-41FA-9052-09AB3A026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5144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705F36A-B5B2-12E2-8186-65E043459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Modelleme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DE1629D-C24F-36EE-0F00-E2963D780C91}"/>
              </a:ext>
            </a:extLst>
          </p:cNvPr>
          <p:cNvSpPr txBox="1"/>
          <p:nvPr/>
        </p:nvSpPr>
        <p:spPr>
          <a:xfrm>
            <a:off x="1024128" y="2332653"/>
            <a:ext cx="56362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b="0" i="0" dirty="0" err="1">
                <a:solidFill>
                  <a:srgbClr val="292929"/>
                </a:solidFill>
                <a:effectLst/>
                <a:latin typeface="charter"/>
              </a:rPr>
              <a:t>Elbow</a:t>
            </a:r>
            <a:r>
              <a:rPr lang="tr-TR" b="0" i="0" dirty="0">
                <a:solidFill>
                  <a:srgbClr val="292929"/>
                </a:solidFill>
                <a:effectLst/>
                <a:latin typeface="charter"/>
              </a:rPr>
              <a:t> metodu; noktaların her K değerine göre küme merkezine uzaklıklarının karesi toplamı hesaplanmaktadır. Bu değerlere göre her K değeri için grafik çizilmektedir.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b="0" i="0" dirty="0">
                <a:solidFill>
                  <a:srgbClr val="292929"/>
                </a:solidFill>
                <a:effectLst/>
                <a:latin typeface="charter"/>
              </a:rPr>
              <a:t>Grafik üzerinde toplamlar arasındaki farkın azalmaya başladığı dirsek noktası en uygun K değeri olarak belirlenmektedir.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tr-TR" b="0" i="0" dirty="0">
                <a:solidFill>
                  <a:srgbClr val="292929"/>
                </a:solidFill>
                <a:effectLst/>
                <a:latin typeface="charter"/>
              </a:rPr>
              <a:t>Sonrasında </a:t>
            </a:r>
            <a:r>
              <a:rPr lang="tr-TR" dirty="0">
                <a:solidFill>
                  <a:srgbClr val="292929"/>
                </a:solidFill>
                <a:latin typeface="charter"/>
              </a:rPr>
              <a:t>K-</a:t>
            </a:r>
            <a:r>
              <a:rPr lang="tr-TR" dirty="0" err="1">
                <a:solidFill>
                  <a:srgbClr val="292929"/>
                </a:solidFill>
                <a:latin typeface="charter"/>
              </a:rPr>
              <a:t>mean</a:t>
            </a:r>
            <a:r>
              <a:rPr lang="tr-TR" dirty="0">
                <a:solidFill>
                  <a:srgbClr val="292929"/>
                </a:solidFill>
                <a:latin typeface="charter"/>
              </a:rPr>
              <a:t> algoritmasında K=4 olarak kullanıldı.</a:t>
            </a:r>
            <a:endParaRPr lang="tr-TR" b="0" i="0" dirty="0">
              <a:solidFill>
                <a:srgbClr val="292929"/>
              </a:solidFill>
              <a:effectLst/>
              <a:latin typeface="charter"/>
            </a:endParaRPr>
          </a:p>
          <a:p>
            <a:pPr algn="just"/>
            <a:endParaRPr lang="tr-TR" dirty="0"/>
          </a:p>
        </p:txBody>
      </p:sp>
      <p:pic>
        <p:nvPicPr>
          <p:cNvPr id="8" name="İçerik Yer Tutucusu 7">
            <a:extLst>
              <a:ext uri="{FF2B5EF4-FFF2-40B4-BE49-F238E27FC236}">
                <a16:creationId xmlns:a16="http://schemas.microsoft.com/office/drawing/2014/main" id="{41A6BE1E-5332-4E81-B428-DE46F5DEA0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384" y="2189211"/>
            <a:ext cx="5003174" cy="3149206"/>
          </a:xfrm>
        </p:spPr>
      </p:pic>
    </p:spTree>
    <p:extLst>
      <p:ext uri="{BB962C8B-B14F-4D97-AF65-F5344CB8AC3E}">
        <p14:creationId xmlns:p14="http://schemas.microsoft.com/office/powerpoint/2010/main" val="1499225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4C308E3-2BBB-1B0A-76A5-C9F6870CF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PCA ve Sonuç</a:t>
            </a:r>
          </a:p>
        </p:txBody>
      </p:sp>
      <p:pic>
        <p:nvPicPr>
          <p:cNvPr id="9" name="İçerik Yer Tutucusu 8">
            <a:extLst>
              <a:ext uri="{FF2B5EF4-FFF2-40B4-BE49-F238E27FC236}">
                <a16:creationId xmlns:a16="http://schemas.microsoft.com/office/drawing/2014/main" id="{6473A012-9F13-A9C4-BA00-37FF7E0760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0" y="873760"/>
            <a:ext cx="7477349" cy="4868672"/>
          </a:xfr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158C0FCF-EF78-4205-F254-FCCB0BA558CB}"/>
              </a:ext>
            </a:extLst>
          </p:cNvPr>
          <p:cNvSpPr txBox="1"/>
          <p:nvPr/>
        </p:nvSpPr>
        <p:spPr>
          <a:xfrm>
            <a:off x="1097280" y="2313432"/>
            <a:ext cx="3566160" cy="1663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Temel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Bileşenler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Analizi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(Principal Component Analysis - PCA)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yardımı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boyut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azaltma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gerçekleştiril</a:t>
            </a:r>
            <a:r>
              <a:rPr lang="tr-T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</a:t>
            </a:r>
            <a: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</a:pPr>
            <a:endParaRPr lang="tr-T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460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E0E722-A7AB-E277-A581-0E3EF60AC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chemeClr val="tx1"/>
                </a:solidFill>
              </a:rPr>
              <a:t>Teşekkürler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915E2FB-767D-2A5F-7BA7-9FA128A54B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415040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Office">
      <a:dk1>
        <a:srgbClr val="000000"/>
      </a:dk1>
      <a:lt1>
        <a:srgbClr val="FFFFFF"/>
      </a:lt1>
      <a:dk2>
        <a:srgbClr val="1D242E"/>
      </a:dk2>
      <a:lt2>
        <a:srgbClr val="F2F1F1"/>
      </a:lt2>
      <a:accent1>
        <a:srgbClr val="4472C4"/>
      </a:accent1>
      <a:accent2>
        <a:srgbClr val="ED7D31"/>
      </a:accent2>
      <a:accent3>
        <a:srgbClr val="A3A3A3"/>
      </a:accent3>
      <a:accent4>
        <a:srgbClr val="CF9B00"/>
      </a:accent4>
      <a:accent5>
        <a:srgbClr val="5B9BD5"/>
      </a:accent5>
      <a:accent6>
        <a:srgbClr val="70AD47"/>
      </a:accent6>
      <a:hlink>
        <a:srgbClr val="D26012"/>
      </a:hlink>
      <a:folHlink>
        <a:srgbClr val="9A587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</TotalTime>
  <Words>219</Words>
  <Application>Microsoft Office PowerPoint</Application>
  <PresentationFormat>Geniş ekran</PresentationFormat>
  <Paragraphs>18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charter</vt:lpstr>
      <vt:lpstr>Times New Roman</vt:lpstr>
      <vt:lpstr>RetrospectVTI</vt:lpstr>
      <vt:lpstr>K-Means Algoritması ile Kredi Kartı Müşterilerinin Sınıflandırılması</vt:lpstr>
      <vt:lpstr>K-Mean Clustering</vt:lpstr>
      <vt:lpstr>Problem ve Veri</vt:lpstr>
      <vt:lpstr>Verimizi Keşfedelim</vt:lpstr>
      <vt:lpstr>Modelleme</vt:lpstr>
      <vt:lpstr>PCA ve Sonuç</vt:lpstr>
      <vt:lpstr>Teşekkürler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ÜZERİNDEN MAKİNE ÖĞRENMESİ İLE SİSTEMDEKİ HANGİ MAKİNENİN NE ZAMAN BOZULACAĞINI TAHMİN ETME</dc:title>
  <dc:creator>Mert Oğuzhanasiltürk</dc:creator>
  <cp:lastModifiedBy>Mert Oğuzhanasiltürk</cp:lastModifiedBy>
  <cp:revision>13</cp:revision>
  <dcterms:created xsi:type="dcterms:W3CDTF">2022-06-18T21:30:36Z</dcterms:created>
  <dcterms:modified xsi:type="dcterms:W3CDTF">2022-07-04T08:29:18Z</dcterms:modified>
</cp:coreProperties>
</file>